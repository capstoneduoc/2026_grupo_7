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96lWYtOMhVQSRYB7lGgs2OgLp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E46D97-6AC9-4441-9B70-E4A432A74ABA}">
  <a:tblStyle styleId="{3EE46D97-6AC9-4441-9B70-E4A432A74A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34D055-A1BF-4F9B-8217-D5C9A2B2DA2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1F1F1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1F1F1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1F1F1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1F1F1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1F1F1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1F1F1F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3df7f2f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a3df7f2f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3df7f2f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a3df7f2f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a3df7f2f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a3df7f2f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3df7f2f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a3df7f2f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Titulo</a:t>
            </a:r>
            <a:br>
              <a:rPr lang="es-CL"/>
            </a:br>
            <a:r>
              <a:rPr lang="es-CL" sz="3200"/>
              <a:t>“</a:t>
            </a:r>
            <a:r>
              <a:rPr lang="es-CL" sz="3756">
                <a:solidFill>
                  <a:srgbClr val="000000"/>
                </a:solidFill>
              </a:rPr>
              <a:t>FarmaStock Assist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45107" y="1721009"/>
            <a:ext cx="6781017" cy="3415981"/>
            <a:chOff x="0" y="0"/>
            <a:chExt cx="6781017" cy="3415981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Jeison Padilla</a:t>
              </a:r>
              <a:endParaRPr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Proyecto, diseñador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Monsalve</a:t>
              </a:r>
              <a:endParaRPr dirty="0"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Desarrollador, BD</a:t>
              </a:r>
              <a:endParaRPr dirty="0"/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dirty="0"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599272" y="1174243"/>
              <a:ext cx="4884869" cy="10674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Alexsander Haase</a:t>
              </a:r>
              <a:endParaRPr sz="21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QA, Desarrollador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sz="1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name="adj" fmla="val 10000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CL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información anticipada: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 paciente solo se entera de la falta de stock tras hacer la fila en ventanilla.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CL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reactivos de reposición: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Dificultad del equipo farmacéutico para anticipar la demanda de fármacos críticos (como Losartán, Paracetamol, Metformina y Amoxicilina).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CL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Ausencia de autonomía administrativa: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Falta de un sistema desacoplado que permita gestionar catálogos maestros, sedes y umbrales de stock sin requerir intervención directa en bases de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912075" y="1292825"/>
            <a:ext cx="4641300" cy="51558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 b="1">
                <a:latin typeface="Calibri"/>
                <a:ea typeface="Calibri"/>
                <a:cs typeface="Calibri"/>
                <a:sym typeface="Calibri"/>
              </a:rPr>
              <a:t>FarmaStock Assist</a:t>
            </a: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 es una solución web responsiva desarrollada bajo el modelo arquitectónico en capas y el modelo 4+1, compuesta por dos aplicaciones integradas: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s-CL" sz="1200" b="1">
                <a:latin typeface="Calibri"/>
                <a:ea typeface="Calibri"/>
                <a:cs typeface="Calibri"/>
                <a:sym typeface="Calibri"/>
              </a:rPr>
              <a:t>Aplicación Principal:</a:t>
            </a: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 Módulo público para que los pacientes consulten disponibilidad ingresando su RUT y emitan su turno, sumado a un Dashboard de Control para el Químico Farmacéutico con KPIs en tiempo real, buscador de stock y dos reportes analíticos con exportación en PDF y XLS.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s-CL" sz="1200" b="1">
                <a:latin typeface="Calibri"/>
                <a:ea typeface="Calibri"/>
                <a:cs typeface="Calibri"/>
                <a:sym typeface="Calibri"/>
              </a:rPr>
              <a:t>Aplicación Secundaria:</a:t>
            </a: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 Backoffice administrativo para la gestión de 10 mantenedores maestros que otorgan autonomía total al sistema.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AutoNum type="arabicPeriod"/>
            </a:pPr>
            <a:r>
              <a:rPr lang="es-CL" sz="1200" b="1">
                <a:latin typeface="Calibri"/>
                <a:ea typeface="Calibri"/>
                <a:cs typeface="Calibri"/>
                <a:sym typeface="Calibri"/>
              </a:rPr>
              <a:t>Servicios de Integración:</a:t>
            </a: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 Notificaciones automáticas por correo electrónico o SMS ante normalización de stock y conexión REST.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1300" b="1"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sz="13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200">
                <a:latin typeface="Calibri"/>
                <a:ea typeface="Calibri"/>
                <a:cs typeface="Calibri"/>
                <a:sym typeface="Calibri"/>
              </a:rPr>
              <a:t>Digitalizar y descentralizar la consulta de fármacos mediante una interfaz web accesible para el paciente (diseño Mobile-First) y proveer a la farmacia asistencial de una consola de soporte a la toma de decisiones con semaforización de stock crítico y reportería avanzada sobre Supabase y React.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6415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la plataforma web FarmaStock Assist para optimizar la gestión de inventario farmacéutico y el acceso a la información de recetas en el CESFAM San Gerónimo, permitiendo la consulta remota de disponibilidad de medicamentos por RUT, la emisión de turnos digitales y el monitoreo de stock crítico en tiempo real para reducir los tiempos de espera y la incertidumbre de los pacientes crónicos durante el segundo semestre de 2026.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298450" algn="just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Levantamiento y Análisis: Levantar requerimientos funcionales y normativos de entrega de fármacos en APS para estructurar el documento ERS y el modelo de datos relacional.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Diseño UI/UX y Arquitectura: Diseñar prototipos adaptativos en Figma y la arquitectura desacoplada (Modelo 4+1) para separar la vista del paciente de la administración.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Desarrollo Frontend y Backend: Programar el módulo de consulta por RUT con turno digital y el panel administrativo con semaforización de stock crítico y control de acceso (RBAC/RLS).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Interoperabilidad y Reportes: Integrar APIs REST de mensajería (SMS/Email) y generar reportes analíticos de consumo en PDF/Excel para el personal farmacéutico.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s-CL" sz="1100">
                <a:latin typeface="Calibri"/>
                <a:ea typeface="Calibri"/>
                <a:cs typeface="Calibri"/>
                <a:sym typeface="Calibri"/>
              </a:rPr>
              <a:t>Aseguramiento de Calidad: Ejecutar pruebas de usabilidad, integración y rendimiento para garantizar cero defectos críticos antes del despliegue en la nube.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914374" y="1664801"/>
            <a:ext cx="10072800" cy="46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stock e inventario de fármacos por bodega y mesón de farmacia.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preparación y empaquetado de recetas por orden médica/RUT.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notificación automática multicanal (SMS, correo electrónico y aplicación web/móvil) hacia los pacientes cuando su pedido esté en estado "Listo para Retiro".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trazabilidad y firma/código QR de entrega de medicamentos al usuario final.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reportes de consumo, medicamentos críticos y tiempos de ciclo de retiro.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emitirá diagnósticos médicos automatizados ni sugerirá cambios de dosis.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reemplazará el sistema de fichas clínicas electrónicas (Rayen/FONASA), sino que consumirá sus datos mediante APIs/Webhooks.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-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procesa transacciones financieras de cobro directo (atención primaria de salud pública).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838191" y="87601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86550" y="1795375"/>
            <a:ext cx="10656900" cy="4780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 b="1">
                <a:solidFill>
                  <a:schemeClr val="dk1"/>
                </a:solidFill>
              </a:rPr>
              <a:t>Paciente / Tutor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Descripción:</a:t>
            </a:r>
            <a:r>
              <a:rPr lang="es-CL" sz="1100">
                <a:solidFill>
                  <a:schemeClr val="dk1"/>
                </a:solidFill>
              </a:rPr>
              <a:t> Usuario general o beneficiario crónico (GES/Cardiovascular) del CESFAM.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Rol en el sistema:</a:t>
            </a:r>
            <a:r>
              <a:rPr lang="es-CL" sz="1100">
                <a:solidFill>
                  <a:schemeClr val="dk1"/>
                </a:solidFill>
              </a:rPr>
              <a:t> Ingresa su RUT desde cualquier dispositivo móvil para verificar la disponibilidad de sus medicamentos prescritos y emite turnos de retiro digital previo.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 b="1">
                <a:solidFill>
                  <a:schemeClr val="dk1"/>
                </a:solidFill>
              </a:rPr>
              <a:t>Químico Farmacéutico (Q.F.)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Descripción:</a:t>
            </a:r>
            <a:r>
              <a:rPr lang="es-CL" sz="1100">
                <a:solidFill>
                  <a:schemeClr val="dk1"/>
                </a:solidFill>
              </a:rPr>
              <a:t> Profesional a cargo de la gestión técnica y operativa de la farmacia en el centro de salud.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Rol en el sistema:</a:t>
            </a:r>
            <a:r>
              <a:rPr lang="es-CL" sz="1100">
                <a:solidFill>
                  <a:schemeClr val="dk1"/>
                </a:solidFill>
              </a:rPr>
              <a:t> Monitorea el dashboard con semaforización de stock crítico en tiempo real, supervisa alertas de desabastecimiento y genera reportes analíticos de consumo.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 b="1">
                <a:solidFill>
                  <a:schemeClr val="dk1"/>
                </a:solidFill>
              </a:rPr>
              <a:t>Técnico en Farmacia (TENS)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Descripción:</a:t>
            </a:r>
            <a:r>
              <a:rPr lang="es-CL" sz="1100">
                <a:solidFill>
                  <a:schemeClr val="dk1"/>
                </a:solidFill>
              </a:rPr>
              <a:t> Personal de mesón encargado de la dispensación física de fármacos a los pacientes.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Rol en el sistema:</a:t>
            </a:r>
            <a:r>
              <a:rPr lang="es-CL" sz="1100">
                <a:solidFill>
                  <a:schemeClr val="dk1"/>
                </a:solidFill>
              </a:rPr>
              <a:t> Consulta y valida el turno digital en sala, registra la entrega efectiva de recetas (totales o parciales) y actualiza el inventario en ventanilla.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 b="1">
                <a:solidFill>
                  <a:schemeClr val="dk1"/>
                </a:solidFill>
              </a:rPr>
              <a:t>Administrador del Sistema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Descripción:</a:t>
            </a:r>
            <a:r>
              <a:rPr lang="es-CL" sz="1100">
                <a:solidFill>
                  <a:schemeClr val="dk1"/>
                </a:solidFill>
              </a:rPr>
              <a:t> Encargado de la gestión informática y operativa comunal de la plataforma.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 b="1">
                <a:solidFill>
                  <a:schemeClr val="dk1"/>
                </a:solidFill>
              </a:rPr>
              <a:t>Rol en el sistema:</a:t>
            </a:r>
            <a:r>
              <a:rPr lang="es-CL" sz="1100">
                <a:solidFill>
                  <a:schemeClr val="dk1"/>
                </a:solidFill>
              </a:rPr>
              <a:t> Administra usuarios y perfiles (RBAC), configura mantenedores maestros (fármacos, laboratorios, bodegas) y gestiona los parámetros de seguridad.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>
            <a:spLocks noGrp="1"/>
          </p:cNvSpPr>
          <p:nvPr>
            <p:ph type="title"/>
          </p:nvPr>
        </p:nvSpPr>
        <p:spPr>
          <a:xfrm>
            <a:off x="764516" y="79806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graphicFrame>
        <p:nvGraphicFramePr>
          <p:cNvPr id="143" name="Google Shape;143;p7"/>
          <p:cNvGraphicFramePr/>
          <p:nvPr/>
        </p:nvGraphicFramePr>
        <p:xfrm>
          <a:off x="152400" y="155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{3EE46D97-6AC9-4441-9B70-E4A432A74ABA}</a:tableStyleId>
              </a:tblPr>
              <a:tblGrid>
                <a:gridCol w="4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[R-N°]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[Nombre del Requerimiento]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Requerimiento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[Funcional, No Funcional]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Actores Usuarios Relacionados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[Descripción corta del requerimiento]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12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4472C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0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y Control de Acceso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Paciente, Técnico, Q.F., 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 de sesión seguro con roles diferenciados y control de permisos.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1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de Disponibilidad por RUT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Paciente, Usuario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en tiempo real de recetas activas, fármacos, dosis y estado de stock.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2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Selección de Acción y Confirmación de Turno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Paciente, Usuario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Elección de modalidad de retiro (inmediato o esperar stock) y emisión de ticket de turno.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3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Panel de Control y Alertas de Stock Crítico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Químico Farmacéutico, Técnico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con KPIs, semaforización de stock crítico/bajo y fármacos de alta demanda.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4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Buscador y Filtro de Medicamentos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Químico Farmacéutico, Técnico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Filtro operativo por nombre, principio activo, laboratorio, presentación y grupo terapéutico.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5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Notificaciones Automáticas al Paciente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Paciente, Sistema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Disparo de avisos automáticos por correo o SMS ante reposición de fármacos agotados.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6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Interoperabilidad Externa REST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Sistema, Servicio Externo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mediante API REST para despacho de mensajería o consulta de recetas.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3:7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g3fa3df7f2f0_0_30"/>
          <p:cNvGraphicFramePr/>
          <p:nvPr/>
        </p:nvGraphicFramePr>
        <p:xfrm>
          <a:off x="102550" y="70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{3EE46D97-6AC9-4441-9B70-E4A432A74ABA}</a:tableStyleId>
              </a:tblPr>
              <a:tblGrid>
                <a:gridCol w="50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2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de Consumo y Fármacos Críticos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Químico Farmacéutico, 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Visualización filtrada en pantalla con exportación a PDF y XLS.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0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RF09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de Trazabilidad de Quiebres y Turnos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Administrador, Químico Farmacéutico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Métricas de atenciones, quiebres por sede y exportación en PDF y XLS.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1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Usuarios y Roles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completa (CRUD), reseteo de claves y asignación de perfiles de usuario.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2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Medicamentos y Principios Activos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Altas, bajas y modificaciones de fármacos, concentraciones y códigos.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3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Laboratorios Proveedores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 de laboratorios fabricantes y distribuidores autorizados.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4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Formas Farmacéuticas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Administración de tipos de presentación (comprimidos, jarabes, cápsulas)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5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Grupos Terapéuticos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familias clínicas (antihipertensivos, analgésicos, antibióticos)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6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Sedes y Farmacias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 de centros asistenciales, CESFAM y postas de salud.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7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Bodegas y Ubicaciones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Administración de estanterías, bodegas centrales y zonas físicas de stock.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8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1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Umbrales de Stock de Seguridad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Parametrización de cantidades mínimas y niveles de alerta crítica.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48:9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g3fa3df7f2f0_0_36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{3EE46D97-6AC9-4441-9B70-E4A432A74ABA}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Plantillas de Notificaciones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 y edición de mensajes para correos electrónicos y SMS.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0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RF19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Mantenedor de Parámetros Globales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 de tiempos de expiración de recetas, vigencia de turnos y reglas de negocio.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RF20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y Auditoría de Movimientos de Inventario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Químico Farmacéutico, Administrador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Trazabilidad automática de ingresos, mermas y ajustes manuales de stock con fecha y responsable.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Propuesto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2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RF21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Cancelación y Reagendamiento de Turno Digital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Paciente, Usuario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Permitir al usuario anular o reprogramar su turno emitido antes de ser atendido en ventanilla.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Propuesto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3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RF22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Actualización de Stock en Tiempo Real (Live Sync)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Químico Farmacéutico, Técnico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Refresco automático del dashboard de farmacia ante cambios de stock sin necesidad de recargar la página web.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Propuesto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4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Patrón Arquitectónico en Capas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aplica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Separación en capas de Presentación (React), Lógica y Datos (Supabase).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5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RNF02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Paradigma y Tecnologías Orientadas a Objetos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aplica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modular con React, TypeScript/JavaScript y Supabase/PostgreSQL.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6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RNF03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Seguridad, Enmascaramiento y Sesiones JWT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aplica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Encriptación de claves, sesiones JWT y protección Row Level Security (RLS).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7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RNF04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Responsivo y Accesibilidad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aplica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Adaptabilidad multidispositivo (Mobile-first para usuarios, Desktop para Q.F.).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8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8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RNF05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Estricta de Formularios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aplica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cliente/servidor (formato RUT, campos obligatorios, restricciones SQL).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9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Aprobado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9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RNF06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Rendimiento y Tiempos de Respuesta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aplica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consulta de disponibilidad por RUT debe retornar resultados en pantalla en un tiempo menor a 1,5 segundos.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Propuesto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0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RNF07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Disponibilidad y Tolerancia a Fallos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Funcional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aplica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 plataforma debe garantizar una disponibilidad del servicio del 99,5% durante los horarios de atención asistencial.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Propuesto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ctr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53:11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title"/>
          </p:nvPr>
        </p:nvSpPr>
        <p:spPr>
          <a:xfrm>
            <a:off x="641250" y="1068400"/>
            <a:ext cx="37782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3600"/>
              <a:t>Mockups del Sistema Vista desde teléfono</a:t>
            </a:r>
            <a:endParaRPr sz="3600"/>
          </a:p>
        </p:txBody>
      </p:sp>
      <p:pic>
        <p:nvPicPr>
          <p:cNvPr id="159" name="Google Shape;1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0575" y="1068500"/>
            <a:ext cx="2974586" cy="578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9"/>
          <p:cNvPicPr preferRelativeResize="0"/>
          <p:nvPr/>
        </p:nvPicPr>
        <p:blipFill rotWithShape="1">
          <a:blip r:embed="rId4">
            <a:alphaModFix/>
          </a:blip>
          <a:srcRect b="1420"/>
          <a:stretch/>
        </p:blipFill>
        <p:spPr>
          <a:xfrm>
            <a:off x="5197412" y="968380"/>
            <a:ext cx="3107788" cy="588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a3df7f2f0_0_55"/>
          <p:cNvSpPr txBox="1">
            <a:spLocks noGrp="1"/>
          </p:cNvSpPr>
          <p:nvPr>
            <p:ph type="title"/>
          </p:nvPr>
        </p:nvSpPr>
        <p:spPr>
          <a:xfrm>
            <a:off x="1094550" y="81380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158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/>
              <a:t>Mockups del Sistema </a:t>
            </a:r>
            <a:r>
              <a:rPr lang="es-CL" sz="3600" b="1"/>
              <a:t>Vista desde computador o tablet</a:t>
            </a:r>
            <a:endParaRPr sz="3600" b="1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g3fa3df7f2f0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1275"/>
            <a:ext cx="5897100" cy="33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a3df7f2f0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2575" y="2851263"/>
            <a:ext cx="5610225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a3df7f2f0_0_63"/>
          <p:cNvSpPr txBox="1">
            <a:spLocks noGrp="1"/>
          </p:cNvSpPr>
          <p:nvPr>
            <p:ph type="title"/>
          </p:nvPr>
        </p:nvSpPr>
        <p:spPr>
          <a:xfrm>
            <a:off x="701925" y="1039075"/>
            <a:ext cx="10050000" cy="135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15833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s-CL" sz="3600"/>
              <a:t>Mockups del Sistema </a:t>
            </a:r>
            <a:r>
              <a:rPr lang="es-CL" sz="3600" b="1"/>
              <a:t>Visión del químico farmacéutico: Panel de gestión </a:t>
            </a:r>
            <a:endParaRPr/>
          </a:p>
        </p:txBody>
      </p:sp>
      <p:pic>
        <p:nvPicPr>
          <p:cNvPr id="173" name="Google Shape;173;g3fa3df7f2f0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625" y="2398075"/>
            <a:ext cx="7282112" cy="427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9" name="Google Shape;179;p10"/>
          <p:cNvGraphicFramePr/>
          <p:nvPr/>
        </p:nvGraphicFramePr>
        <p:xfrm>
          <a:off x="1626525" y="1828050"/>
          <a:ext cx="6381750" cy="4504900"/>
        </p:xfrm>
        <a:graphic>
          <a:graphicData uri="http://schemas.openxmlformats.org/drawingml/2006/table">
            <a:tbl>
              <a:tblPr>
                <a:noFill/>
                <a:tableStyleId>{D134D055-A1BF-4F9B-8217-D5C9A2B2DA26}</a:tableStyleId>
              </a:tblPr>
              <a:tblGrid>
                <a:gridCol w="150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425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/ Hito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Ponderación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Entregable Principal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475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1: Inicio y Planificación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5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 de la nota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 técnica , levantamiento de requerimientos y casos de uso.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85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2.1: Modelo Arquitectónico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20% de la nota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4+1, patrón de capas, diseño de base de datos e interfaces.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5475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2.2: 100% del Desarrollo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 14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 de la nota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Principal, App Secundaria (10 mantenedores), 2 reportes PDF/XLS y REST.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85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3: Cierre y Defensa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Semanas 17 a 18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 de la nota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integradas en CESFAM, manuales y defensa de portafolio.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14300" marR="114300" marT="76200" marB="762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6" name="Google Shape;186;p11"/>
          <p:cNvGraphicFramePr/>
          <p:nvPr/>
        </p:nvGraphicFramePr>
        <p:xfrm>
          <a:off x="1870125" y="2224163"/>
          <a:ext cx="7926550" cy="3247875"/>
        </p:xfrm>
        <a:graphic>
          <a:graphicData uri="http://schemas.openxmlformats.org/drawingml/2006/table">
            <a:tbl>
              <a:tblPr>
                <a:noFill/>
                <a:tableStyleId>{3EE46D97-6AC9-4441-9B70-E4A432A74ABA}</a:tableStyleId>
              </a:tblPr>
              <a:tblGrid>
                <a:gridCol w="340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625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POR FASE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0:0"/>
                      </a:ext>
                    </a:extLst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Planificación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$ 2.476.000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1: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Análisis y Diseño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$ 3.394.000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2: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$ 9.956.000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3: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QA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$ 2.358.000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4: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Implementación y Cierre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$ 2.480.000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5: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HH FASES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$ 20.664.000</a:t>
                      </a:r>
                      <a:endParaRPr sz="12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91425" marB="91425" anchor="b">
                    <a:lnL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19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186:6:1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641250" y="1828024"/>
            <a:ext cx="10861200" cy="3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b="1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Tecnologías y Herramientas del Proyecto</a:t>
            </a:r>
            <a:endParaRPr b="1">
              <a:solidFill>
                <a:srgbClr val="1F1F1F"/>
              </a:solidFill>
              <a:highlight>
                <a:srgbClr val="FAF9F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</a:pPr>
            <a:r>
              <a:rPr lang="es-CL" b="1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Frontend y Maquetado:</a:t>
            </a:r>
            <a:r>
              <a:rPr lang="es-CL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 React con diseño adaptativo (responsive) para módulos de Paciente y Administración, complementado con prototipado previo en Figma.</a:t>
            </a:r>
            <a:endParaRPr>
              <a:solidFill>
                <a:srgbClr val="1F1F1F"/>
              </a:solidFill>
              <a:highlight>
                <a:srgbClr val="FAF9F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</a:pPr>
            <a:r>
              <a:rPr lang="es-CL" b="1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Backend y Persistencia:</a:t>
            </a:r>
            <a:r>
              <a:rPr lang="es-CL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 Supabase y PostgreSQL como motor de base de datos relacional (gestión de esquemas relacionales y funciones SQL).</a:t>
            </a:r>
            <a:endParaRPr>
              <a:solidFill>
                <a:srgbClr val="1F1F1F"/>
              </a:solidFill>
              <a:highlight>
                <a:srgbClr val="FAF9F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</a:pPr>
            <a:r>
              <a:rPr lang="es-CL" b="1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Seguridad y Control de Acceso:</a:t>
            </a:r>
            <a:r>
              <a:rPr lang="es-CL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 Autenticación basada en JSON Web Tokens (JWT) y políticas de seguridad a nivel de datos mediante Row Level Security (RLS).</a:t>
            </a:r>
            <a:endParaRPr>
              <a:solidFill>
                <a:srgbClr val="1F1F1F"/>
              </a:solidFill>
              <a:highlight>
                <a:srgbClr val="FAF9F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</a:pPr>
            <a:r>
              <a:rPr lang="es-CL" b="1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Interoperabilidad y Comunicación:</a:t>
            </a:r>
            <a:r>
              <a:rPr lang="es-CL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 APIs REST para intercambio de datos y servicios externos de mensajería automatizada (Twilio para SMS y Resend para correo electrónico).</a:t>
            </a:r>
            <a:endParaRPr>
              <a:solidFill>
                <a:srgbClr val="1F1F1F"/>
              </a:solidFill>
              <a:highlight>
                <a:srgbClr val="FAF9F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</a:pPr>
            <a:r>
              <a:rPr lang="es-CL" b="1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Infraestructura y Versionamiento:</a:t>
            </a:r>
            <a:r>
              <a:rPr lang="es-CL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 Control de versiones con Git/GitHub y despliegue continuo de la aplicación en la nube a través de Vercel.</a:t>
            </a:r>
            <a:endParaRPr>
              <a:solidFill>
                <a:srgbClr val="1F1F1F"/>
              </a:solidFill>
              <a:highlight>
                <a:srgbClr val="FAF9F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None/>
            </a:pPr>
            <a:r>
              <a:rPr lang="es-CL" b="1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Modelado y Diagramación:</a:t>
            </a:r>
            <a:r>
              <a:rPr lang="es-CL">
                <a:solidFill>
                  <a:srgbClr val="1F1F1F"/>
                </a:solidFill>
                <a:highlight>
                  <a:srgbClr val="FAF9F9"/>
                </a:highlight>
                <a:latin typeface="Calibri"/>
                <a:ea typeface="Calibri"/>
                <a:cs typeface="Calibri"/>
                <a:sym typeface="Calibri"/>
              </a:rPr>
              <a:t> Bizagi Modeler para el modelado de procesos de negocio (BPMN) y el diagrama de procesos TO-BE.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 Social y Dignidad: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FarmaStock Assist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elimina la incertidumbre de los pacientes crónicos del CESFAM San Gerónimo, reduciendo traslados innecesarios y filas en sala mediante la consulta previa de recetas por RUT.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Eficiencia Operacional: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Transforma la gestión manual de farmacia en un flujo proactivo gracias al monitoreo en tiempo real, alertas de stock crítico y reportería analítica para el personal de salud.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Técnica Robusta: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Demuestra la integración exitosa de tecnologías modernas (React, Supabase/PostgreSQL y arquitectura desacoplada), cumpliendo con los estándares de seguridad de datos clínicos exigidos por la normativa de salud.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Aporte Profesional:</a:t>
            </a:r>
            <a:r>
              <a:rPr lang="es-CL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Consolida las competencias de ingeniería de software al resolver un problema crítico del sector público con una plataforma viable, escalable y de costo eficiente.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2092</Words>
  <Application>Microsoft Office PowerPoint</Application>
  <PresentationFormat>Panorámica</PresentationFormat>
  <Paragraphs>298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Tema de Office</vt:lpstr>
      <vt:lpstr>Presentación Portafolio Titulo “FarmaStock Assist”</vt:lpstr>
      <vt:lpstr>Presentación de PowerPoint</vt:lpstr>
      <vt:lpstr>Descripción del Proyecto</vt:lpstr>
      <vt:lpstr>Presentación de PowerPoint</vt:lpstr>
      <vt:lpstr>Alcances</vt:lpstr>
      <vt:lpstr>Usuarios</vt:lpstr>
      <vt:lpstr>Lista de Requerimientos</vt:lpstr>
      <vt:lpstr>Presentación de PowerPoint</vt:lpstr>
      <vt:lpstr>Presentación de PowerPoint</vt:lpstr>
      <vt:lpstr>Mockups del Sistema Vista desde teléfono</vt:lpstr>
      <vt:lpstr>Mockups del Sistema Vista desde computador o tablet </vt:lpstr>
      <vt:lpstr>Mockups del Sistema Visión del químico farmacéutico: Panel de gestión </vt:lpstr>
      <vt:lpstr>Hitos Importantes </vt:lpstr>
      <vt:lpstr>Costos por Fase </vt:lpstr>
      <vt:lpstr>Tecnologías del Desarrollo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Jeanette Leonelli</cp:lastModifiedBy>
  <cp:revision>1</cp:revision>
  <dcterms:created xsi:type="dcterms:W3CDTF">2015-07-01T15:45:01Z</dcterms:created>
  <dcterms:modified xsi:type="dcterms:W3CDTF">2026-09-10T02:57:29Z</dcterms:modified>
</cp:coreProperties>
</file>